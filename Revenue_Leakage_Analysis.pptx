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6" r:id="rId6"/>
    <p:sldId id="262" r:id="rId7"/>
    <p:sldId id="263" r:id="rId8"/>
    <p:sldId id="264" r:id="rId9"/>
    <p:sldId id="265" r:id="rId10"/>
  </p:sldIdLst>
  <p:sldSz cx="14630400" cy="8229600"/>
  <p:notesSz cx="8229600" cy="14630400"/>
  <p:embeddedFontLst>
    <p:embeddedFont>
      <p:font typeface="Roboto Slab" pitchFamily="2"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733"/>
    <a:srgbClr val="78A7CB"/>
    <a:srgbClr val="D6E5EF"/>
    <a:srgbClr val="344258"/>
    <a:srgbClr val="3769C7"/>
    <a:srgbClr val="E6D8AD"/>
    <a:srgbClr val="2268A4"/>
    <a:srgbClr val="76B9FF"/>
    <a:srgbClr val="1A7EBA"/>
    <a:srgbClr val="FADC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29EEBE-C57A-431D-9528-370B4878267F}" v="279" dt="2025-12-12T07:43:42.943"/>
    <p1510:client id="{A8C4B64D-2525-469D-8C16-80423EB34839}" v="63" dt="2025-12-13T03:37:55.1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94" autoAdjust="0"/>
    <p:restoredTop sz="94610"/>
  </p:normalViewPr>
  <p:slideViewPr>
    <p:cSldViewPr snapToGrid="0" snapToObjects="1">
      <p:cViewPr varScale="1">
        <p:scale>
          <a:sx n="69" d="100"/>
          <a:sy n="69" d="100"/>
        </p:scale>
        <p:origin x="60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2372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71B21"/>
          </a:solidFill>
          <a:ln/>
        </p:spPr>
      </p:sp>
      <p:sp>
        <p:nvSpPr>
          <p:cNvPr id="3" name="Shape 1"/>
          <p:cNvSpPr/>
          <p:nvPr/>
        </p:nvSpPr>
        <p:spPr>
          <a:xfrm>
            <a:off x="0" y="0"/>
            <a:ext cx="14630400" cy="8229600"/>
          </a:xfrm>
          <a:prstGeom prst="rect">
            <a:avLst/>
          </a:prstGeom>
          <a:solidFill>
            <a:srgbClr val="2027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8.png"/><Relationship Id="rId12" Type="http://schemas.microsoft.com/office/2007/relationships/hdphoto" Target="../media/hdphoto3.wdp"/><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svg"/><Relationship Id="rId11" Type="http://schemas.openxmlformats.org/officeDocument/2006/relationships/image" Target="../media/image10.png"/><Relationship Id="rId5" Type="http://schemas.openxmlformats.org/officeDocument/2006/relationships/image" Target="../media/image6.png"/><Relationship Id="rId10" Type="http://schemas.microsoft.com/office/2007/relationships/hdphoto" Target="../media/hdphoto2.wdp"/><Relationship Id="rId4" Type="http://schemas.openxmlformats.org/officeDocument/2006/relationships/image" Target="../media/image5.svg"/><Relationship Id="rId9" Type="http://schemas.openxmlformats.org/officeDocument/2006/relationships/image" Target="../media/image9.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microsoft.com/office/2007/relationships/hdphoto" Target="../media/hdphoto4.wdp"/></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microsoft.com/office/2007/relationships/hdphoto" Target="../media/hdphoto5.wdp"/></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961971" y="2996552"/>
            <a:ext cx="5965902" cy="2236496"/>
          </a:xfrm>
          <a:prstGeom prst="rect">
            <a:avLst/>
          </a:prstGeom>
          <a:noFill/>
          <a:ln>
            <a:noFill/>
          </a:ln>
        </p:spPr>
        <p:txBody>
          <a:bodyPr wrap="square" lIns="0" tIns="0" rIns="0" bIns="0" rtlCol="0" anchor="t"/>
          <a:lstStyle/>
          <a:p>
            <a:pPr marL="0" indent="0" algn="ctr">
              <a:lnSpc>
                <a:spcPts val="5550"/>
              </a:lnSpc>
              <a:buNone/>
            </a:pPr>
            <a:r>
              <a:rPr lang="en-US" sz="4450" dirty="0">
                <a:ln w="9525">
                  <a:solidFill>
                    <a:srgbClr val="FADCB5"/>
                  </a:solidFill>
                  <a:prstDash val="solid"/>
                </a:ln>
                <a:solidFill>
                  <a:schemeClr val="accent5"/>
                </a:solidFill>
                <a:effectLst>
                  <a:outerShdw blurRad="12700" dist="38100" dir="2700000" algn="tl" rotWithShape="0">
                    <a:schemeClr val="accent5">
                      <a:lumMod val="60000"/>
                      <a:lumOff val="40000"/>
                    </a:schemeClr>
                  </a:outerShdw>
                </a:effectLst>
                <a:latin typeface="Roboto Slab" pitchFamily="34" charset="0"/>
                <a:ea typeface="Roboto Slab" pitchFamily="34" charset="-122"/>
                <a:cs typeface="Roboto Slab" pitchFamily="34" charset="-120"/>
              </a:rPr>
              <a:t>Revenue Leakage Analysis and </a:t>
            </a:r>
          </a:p>
          <a:p>
            <a:pPr marL="0" indent="0" algn="ctr">
              <a:lnSpc>
                <a:spcPts val="5550"/>
              </a:lnSpc>
              <a:buNone/>
            </a:pPr>
            <a:r>
              <a:rPr lang="en-US" sz="4450" dirty="0">
                <a:ln w="9525">
                  <a:solidFill>
                    <a:srgbClr val="FADCB5"/>
                  </a:solidFill>
                  <a:prstDash val="solid"/>
                </a:ln>
                <a:solidFill>
                  <a:schemeClr val="accent5"/>
                </a:solidFill>
                <a:effectLst>
                  <a:outerShdw blurRad="12700" dist="38100" dir="2700000" algn="tl" rotWithShape="0">
                    <a:schemeClr val="accent5">
                      <a:lumMod val="60000"/>
                      <a:lumOff val="40000"/>
                    </a:schemeClr>
                  </a:outerShdw>
                </a:effectLst>
                <a:latin typeface="Roboto Slab" pitchFamily="34" charset="0"/>
                <a:ea typeface="Roboto Slab" pitchFamily="34" charset="-122"/>
                <a:cs typeface="Roboto Slab" pitchFamily="34" charset="-120"/>
              </a:rPr>
              <a:t>Recovery Strategy</a:t>
            </a:r>
            <a:endParaRPr lang="en-US" sz="4450" dirty="0">
              <a:ln w="9525">
                <a:solidFill>
                  <a:srgbClr val="FADCB5"/>
                </a:solidFill>
                <a:prstDash val="solid"/>
              </a:ln>
              <a:solidFill>
                <a:schemeClr val="accent5"/>
              </a:solidFill>
              <a:effectLst>
                <a:outerShdw blurRad="12700" dist="38100" dir="2700000" algn="tl" rotWithShape="0">
                  <a:schemeClr val="accent5">
                    <a:lumMod val="60000"/>
                    <a:lumOff val="40000"/>
                  </a:schemeClr>
                </a:outerShdw>
              </a:effectLst>
            </a:endParaRPr>
          </a:p>
        </p:txBody>
      </p:sp>
      <p:pic>
        <p:nvPicPr>
          <p:cNvPr id="5" name="Picture 4">
            <a:extLst>
              <a:ext uri="{FF2B5EF4-FFF2-40B4-BE49-F238E27FC236}">
                <a16:creationId xmlns:a16="http://schemas.microsoft.com/office/drawing/2014/main" id="{AC9D8CF5-A8A8-77CA-5F3C-8D27421C8A41}"/>
              </a:ext>
            </a:extLst>
          </p:cNvPr>
          <p:cNvPicPr>
            <a:picLocks noChangeAspect="1"/>
          </p:cNvPicPr>
          <p:nvPr/>
        </p:nvPicPr>
        <p:blipFill>
          <a:blip r:embed="rId3"/>
          <a:stretch>
            <a:fillRect/>
          </a:stretch>
        </p:blipFill>
        <p:spPr>
          <a:xfrm>
            <a:off x="0" y="0"/>
            <a:ext cx="6960414" cy="8229600"/>
          </a:xfrm>
          <a:prstGeom prst="rect">
            <a:avLst/>
          </a:prstGeom>
        </p:spPr>
      </p:pic>
      <p:sp>
        <p:nvSpPr>
          <p:cNvPr id="6" name="Oval 5">
            <a:extLst>
              <a:ext uri="{FF2B5EF4-FFF2-40B4-BE49-F238E27FC236}">
                <a16:creationId xmlns:a16="http://schemas.microsoft.com/office/drawing/2014/main" id="{F6051148-D2F7-400C-3A27-B7390C3A4DFF}"/>
              </a:ext>
            </a:extLst>
          </p:cNvPr>
          <p:cNvSpPr/>
          <p:nvPr/>
        </p:nvSpPr>
        <p:spPr>
          <a:xfrm>
            <a:off x="11496907" y="7649737"/>
            <a:ext cx="3289610" cy="669073"/>
          </a:xfrm>
          <a:prstGeom prst="ellipse">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9A99A38C-4B3C-9A76-7828-E51C8110BDD6}"/>
              </a:ext>
            </a:extLst>
          </p:cNvPr>
          <p:cNvSpPr/>
          <p:nvPr/>
        </p:nvSpPr>
        <p:spPr>
          <a:xfrm>
            <a:off x="11991508" y="7617640"/>
            <a:ext cx="2895371" cy="669073"/>
          </a:xfrm>
          <a:prstGeom prst="ellipse">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 1"/>
          <p:cNvSpPr/>
          <p:nvPr/>
        </p:nvSpPr>
        <p:spPr>
          <a:xfrm>
            <a:off x="1561171" y="2521913"/>
            <a:ext cx="11479722"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24" name="Rectangle 23">
            <a:extLst>
              <a:ext uri="{FF2B5EF4-FFF2-40B4-BE49-F238E27FC236}">
                <a16:creationId xmlns:a16="http://schemas.microsoft.com/office/drawing/2014/main" id="{D2D58760-3336-4063-5A58-34B5A9EA431E}"/>
              </a:ext>
            </a:extLst>
          </p:cNvPr>
          <p:cNvSpPr/>
          <p:nvPr/>
        </p:nvSpPr>
        <p:spPr>
          <a:xfrm>
            <a:off x="13172" y="0"/>
            <a:ext cx="6666408" cy="8229600"/>
          </a:xfrm>
          <a:prstGeom prst="rect">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4170555" y="639116"/>
            <a:ext cx="5865540" cy="708779"/>
          </a:xfrm>
          <a:prstGeom prst="rect">
            <a:avLst/>
          </a:prstGeom>
          <a:noFill/>
          <a:ln/>
        </p:spPr>
        <p:txBody>
          <a:bodyPr wrap="none" lIns="0" tIns="0" rIns="0" bIns="0" rtlCol="0" anchor="t"/>
          <a:lstStyle/>
          <a:p>
            <a:pPr marL="0" indent="0" algn="ctr">
              <a:lnSpc>
                <a:spcPts val="5550"/>
              </a:lnSpc>
              <a:buNone/>
            </a:pPr>
            <a:r>
              <a:rPr lang="en-US" sz="4450" b="1" dirty="0">
                <a:solidFill>
                  <a:srgbClr val="76B9FF"/>
                </a:solidFill>
                <a:latin typeface="Times New Roman" panose="02020603050405020304" pitchFamily="18" charset="0"/>
                <a:ea typeface="Roboto Slab" pitchFamily="34" charset="-122"/>
                <a:cs typeface="Times New Roman" panose="02020603050405020304" pitchFamily="18" charset="0"/>
              </a:rPr>
              <a:t>Understanding Revenue</a:t>
            </a:r>
          </a:p>
          <a:p>
            <a:pPr marL="0" indent="0" algn="ctr">
              <a:lnSpc>
                <a:spcPts val="5550"/>
              </a:lnSpc>
              <a:buNone/>
            </a:pPr>
            <a:r>
              <a:rPr lang="en-US" sz="4450" b="1" dirty="0">
                <a:solidFill>
                  <a:srgbClr val="76B9FF"/>
                </a:solidFill>
                <a:latin typeface="Times New Roman" panose="02020603050405020304" pitchFamily="18" charset="0"/>
                <a:ea typeface="Roboto Slab" pitchFamily="34" charset="-122"/>
                <a:cs typeface="Times New Roman" panose="02020603050405020304" pitchFamily="18" charset="0"/>
              </a:rPr>
              <a:t> Leakage</a:t>
            </a:r>
            <a:endParaRPr lang="en-US" sz="4450" b="1" dirty="0">
              <a:latin typeface="Times New Roman" panose="02020603050405020304" pitchFamily="18" charset="0"/>
              <a:cs typeface="Times New Roman" panose="02020603050405020304" pitchFamily="18" charset="0"/>
            </a:endParaRPr>
          </a:p>
        </p:txBody>
      </p:sp>
      <p:sp>
        <p:nvSpPr>
          <p:cNvPr id="25" name="Shape 2">
            <a:extLst>
              <a:ext uri="{FF2B5EF4-FFF2-40B4-BE49-F238E27FC236}">
                <a16:creationId xmlns:a16="http://schemas.microsoft.com/office/drawing/2014/main" id="{A46FA01F-2262-2DB8-0D3F-1E46ADC70933}"/>
              </a:ext>
            </a:extLst>
          </p:cNvPr>
          <p:cNvSpPr/>
          <p:nvPr/>
        </p:nvSpPr>
        <p:spPr>
          <a:xfrm>
            <a:off x="2865863" y="2637599"/>
            <a:ext cx="8474927" cy="4200280"/>
          </a:xfrm>
          <a:prstGeom prst="roundRect">
            <a:avLst>
              <a:gd name="adj" fmla="val 1030"/>
            </a:avLst>
          </a:prstGeom>
          <a:solidFill>
            <a:srgbClr val="3F4652"/>
          </a:solidFill>
          <a:ln/>
        </p:spPr>
      </p:sp>
      <p:sp>
        <p:nvSpPr>
          <p:cNvPr id="20" name="TextBox 19">
            <a:extLst>
              <a:ext uri="{FF2B5EF4-FFF2-40B4-BE49-F238E27FC236}">
                <a16:creationId xmlns:a16="http://schemas.microsoft.com/office/drawing/2014/main" id="{296A9AAC-D225-B063-2E5E-4AF701E33A3B}"/>
              </a:ext>
            </a:extLst>
          </p:cNvPr>
          <p:cNvSpPr txBox="1"/>
          <p:nvPr/>
        </p:nvSpPr>
        <p:spPr>
          <a:xfrm>
            <a:off x="3602347" y="2884815"/>
            <a:ext cx="7001957" cy="3785652"/>
          </a:xfrm>
          <a:prstGeom prst="rect">
            <a:avLst/>
          </a:prstGeom>
          <a:noFill/>
        </p:spPr>
        <p:txBody>
          <a:bodyPr wrap="square" rtlCol="0">
            <a:spAutoFit/>
          </a:bodyPr>
          <a:lstStyle/>
          <a:p>
            <a:pPr algn="ctr"/>
            <a:r>
              <a:rPr lang="en-US" sz="2400" dirty="0">
                <a:solidFill>
                  <a:srgbClr val="E6D8AD"/>
                </a:solidFill>
                <a:latin typeface="Times New Roman" panose="02020603050405020304" pitchFamily="18" charset="0"/>
                <a:ea typeface="Roboto" panose="02000000000000000000" pitchFamily="2" charset="0"/>
                <a:cs typeface="Times New Roman" panose="02020603050405020304" pitchFamily="18" charset="0"/>
              </a:rPr>
              <a:t>Revenue leakage is the loss of money a business should earn but fails to collect because of avoidable mistakes. It happens through incorrect pricing, wrong billing, tax or discount errors, unnecessary refunds, process delays, and weak controls. These small losses add up over time and reduce profitability. Finding and fixing these issues is essential to keep revenue accurate and protect financial performance. Strong monitoring helps prevent repeated errors and ensures the business captures its full revenue.</a:t>
            </a:r>
            <a:endParaRPr lang="en-IN" sz="2400" dirty="0">
              <a:solidFill>
                <a:srgbClr val="E6D8AD"/>
              </a:solidFill>
              <a:latin typeface="Times New Roman" panose="02020603050405020304" pitchFamily="18" charset="0"/>
              <a:ea typeface="Roboto" panose="02000000000000000000" pitchFamily="2" charset="0"/>
              <a:cs typeface="Times New Roman" panose="02020603050405020304" pitchFamily="18" charset="0"/>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574E2BC2-A068-3E6B-1A60-2F9E8FEB0725}"/>
              </a:ext>
            </a:extLst>
          </p:cNvPr>
          <p:cNvSpPr/>
          <p:nvPr/>
        </p:nvSpPr>
        <p:spPr>
          <a:xfrm>
            <a:off x="11909503" y="7649737"/>
            <a:ext cx="3289610" cy="669073"/>
          </a:xfrm>
          <a:prstGeom prst="ellipse">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 0"/>
          <p:cNvSpPr/>
          <p:nvPr/>
        </p:nvSpPr>
        <p:spPr>
          <a:xfrm>
            <a:off x="1571686" y="1347680"/>
            <a:ext cx="4101593" cy="708779"/>
          </a:xfrm>
          <a:prstGeom prst="rect">
            <a:avLst/>
          </a:prstGeom>
          <a:noFill/>
          <a:ln/>
        </p:spPr>
        <p:txBody>
          <a:bodyPr wrap="none" lIns="0" tIns="0" rIns="0" bIns="0" rtlCol="0" anchor="t"/>
          <a:lstStyle/>
          <a:p>
            <a:pPr marL="0" indent="0" algn="l">
              <a:lnSpc>
                <a:spcPts val="5550"/>
              </a:lnSpc>
              <a:buNone/>
            </a:pPr>
            <a:r>
              <a:rPr lang="en-US" sz="4450" b="1" dirty="0">
                <a:solidFill>
                  <a:srgbClr val="76B9FF"/>
                </a:solidFill>
                <a:latin typeface="Times New Roman" panose="02020603050405020304" pitchFamily="18" charset="0"/>
                <a:ea typeface="Roboto Slab" pitchFamily="34" charset="-122"/>
                <a:cs typeface="Times New Roman" panose="02020603050405020304" pitchFamily="18" charset="0"/>
              </a:rPr>
              <a:t>Project Abstract</a:t>
            </a:r>
            <a:endParaRPr lang="en-US" sz="4450" b="1" dirty="0">
              <a:latin typeface="Times New Roman" panose="02020603050405020304" pitchFamily="18" charset="0"/>
              <a:cs typeface="Times New Roman" panose="02020603050405020304" pitchFamily="18" charset="0"/>
            </a:endParaRPr>
          </a:p>
        </p:txBody>
      </p:sp>
      <p:pic>
        <p:nvPicPr>
          <p:cNvPr id="8" name="Picture 7" descr="A blue bag with arrows coming out of it&#10;&#10;AI-generated content may be incorrect.">
            <a:extLst>
              <a:ext uri="{FF2B5EF4-FFF2-40B4-BE49-F238E27FC236}">
                <a16:creationId xmlns:a16="http://schemas.microsoft.com/office/drawing/2014/main" id="{C72B9B49-D63C-7950-2111-0DE1BDAE634A}"/>
              </a:ext>
            </a:extLst>
          </p:cNvPr>
          <p:cNvPicPr>
            <a:picLocks noChangeAspect="1"/>
          </p:cNvPicPr>
          <p:nvPr/>
        </p:nvPicPr>
        <p:blipFill>
          <a:blip r:embed="rId3">
            <a:alphaModFix amt="70000"/>
          </a:blip>
          <a:stretch>
            <a:fillRect/>
          </a:stretch>
        </p:blipFill>
        <p:spPr>
          <a:xfrm>
            <a:off x="7315199" y="0"/>
            <a:ext cx="7984273" cy="8263054"/>
          </a:xfrm>
          <a:prstGeom prst="rect">
            <a:avLst/>
          </a:prstGeom>
        </p:spPr>
      </p:pic>
      <p:sp>
        <p:nvSpPr>
          <p:cNvPr id="4" name="Text 1"/>
          <p:cNvSpPr/>
          <p:nvPr/>
        </p:nvSpPr>
        <p:spPr>
          <a:xfrm>
            <a:off x="472262" y="2922476"/>
            <a:ext cx="6300439" cy="4091641"/>
          </a:xfrm>
          <a:prstGeom prst="rect">
            <a:avLst/>
          </a:prstGeom>
          <a:noFill/>
          <a:ln/>
        </p:spPr>
        <p:txBody>
          <a:bodyPr wrap="square" lIns="0" tIns="0" rIns="0" bIns="0" rtlCol="0" anchor="t"/>
          <a:lstStyle/>
          <a:p>
            <a:pPr algn="ctr">
              <a:lnSpc>
                <a:spcPts val="2850"/>
              </a:lnSpc>
            </a:pPr>
            <a:r>
              <a:rPr lang="en-US" sz="2400" dirty="0">
                <a:solidFill>
                  <a:srgbClr val="D6E5EF"/>
                </a:solidFill>
                <a:latin typeface="Times New Roman" panose="02020603050405020304" pitchFamily="18" charset="0"/>
                <a:ea typeface="Roboto" pitchFamily="34" charset="-122"/>
                <a:cs typeface="Times New Roman" panose="02020603050405020304" pitchFamily="18" charset="0"/>
              </a:rPr>
              <a:t>This project analyses the issue of revenue leakage in an </a:t>
            </a:r>
            <a:r>
              <a:rPr lang="en-US" sz="2400" dirty="0" err="1">
                <a:solidFill>
                  <a:srgbClr val="D6E5EF"/>
                </a:solidFill>
                <a:latin typeface="Times New Roman" panose="02020603050405020304" pitchFamily="18" charset="0"/>
                <a:ea typeface="Roboto" pitchFamily="34" charset="-122"/>
                <a:cs typeface="Times New Roman" panose="02020603050405020304" pitchFamily="18" charset="0"/>
              </a:rPr>
              <a:t>organisation</a:t>
            </a:r>
            <a:r>
              <a:rPr lang="en-US" sz="2400" dirty="0">
                <a:solidFill>
                  <a:srgbClr val="D6E5EF"/>
                </a:solidFill>
                <a:latin typeface="Times New Roman" panose="02020603050405020304" pitchFamily="18" charset="0"/>
                <a:ea typeface="Roboto" pitchFamily="34" charset="-122"/>
                <a:cs typeface="Times New Roman" panose="02020603050405020304" pitchFamily="18" charset="0"/>
              </a:rPr>
              <a:t>, focusing on how unnoticed financial losses reduce overall profitability. It identifies the key points where leakage occurs, evaluates the effectiveness of existing processes, and measures their impact on financial accuracy. The study also proposes clear recovery methods and preventive strategies to strengthen financial control and improve long-term performance.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24488" y="683175"/>
            <a:ext cx="4579257" cy="731302"/>
          </a:xfrm>
          <a:prstGeom prst="rect">
            <a:avLst/>
          </a:prstGeom>
          <a:noFill/>
          <a:ln/>
        </p:spPr>
        <p:txBody>
          <a:bodyPr wrap="none" lIns="0" tIns="0" rIns="0" bIns="0" rtlCol="0" anchor="t"/>
          <a:lstStyle/>
          <a:p>
            <a:pPr marL="0" indent="0" algn="l">
              <a:lnSpc>
                <a:spcPts val="3600"/>
              </a:lnSpc>
              <a:buNone/>
            </a:pPr>
            <a:r>
              <a:rPr lang="en-US" sz="4450" b="1" dirty="0">
                <a:solidFill>
                  <a:srgbClr val="76B9FF"/>
                </a:solidFill>
                <a:latin typeface="Times New Roman" panose="02020603050405020304" pitchFamily="18" charset="0"/>
                <a:ea typeface="Roboto Slab" pitchFamily="34" charset="-122"/>
                <a:cs typeface="Times New Roman" panose="02020603050405020304" pitchFamily="18" charset="0"/>
              </a:rPr>
              <a:t>Scope of the Study</a:t>
            </a:r>
            <a:endParaRPr lang="en-US" sz="4450" b="1" dirty="0">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92CD6A1A-49C9-2342-9509-BF07613FE043}"/>
              </a:ext>
            </a:extLst>
          </p:cNvPr>
          <p:cNvSpPr/>
          <p:nvPr/>
        </p:nvSpPr>
        <p:spPr>
          <a:xfrm>
            <a:off x="11909503" y="7649737"/>
            <a:ext cx="3289610" cy="669073"/>
          </a:xfrm>
          <a:prstGeom prst="ellipse">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47" name="Group 46">
            <a:extLst>
              <a:ext uri="{FF2B5EF4-FFF2-40B4-BE49-F238E27FC236}">
                <a16:creationId xmlns:a16="http://schemas.microsoft.com/office/drawing/2014/main" id="{F54D9B67-4289-0C2D-D1FE-DC31C81862C1}"/>
              </a:ext>
            </a:extLst>
          </p:cNvPr>
          <p:cNvGrpSpPr/>
          <p:nvPr/>
        </p:nvGrpSpPr>
        <p:grpSpPr>
          <a:xfrm>
            <a:off x="587530" y="1985918"/>
            <a:ext cx="5809232" cy="1938992"/>
            <a:chOff x="591015" y="1712605"/>
            <a:chExt cx="6105918" cy="1938992"/>
          </a:xfrm>
        </p:grpSpPr>
        <p:sp>
          <p:nvSpPr>
            <p:cNvPr id="15" name="TextBox 14">
              <a:extLst>
                <a:ext uri="{FF2B5EF4-FFF2-40B4-BE49-F238E27FC236}">
                  <a16:creationId xmlns:a16="http://schemas.microsoft.com/office/drawing/2014/main" id="{508ECA77-E77F-C726-01C6-FBB5E3B682A0}"/>
                </a:ext>
              </a:extLst>
            </p:cNvPr>
            <p:cNvSpPr txBox="1"/>
            <p:nvPr/>
          </p:nvSpPr>
          <p:spPr>
            <a:xfrm>
              <a:off x="1494263" y="1712605"/>
              <a:ext cx="5202670" cy="1938992"/>
            </a:xfrm>
            <a:prstGeom prst="rect">
              <a:avLst/>
            </a:prstGeom>
            <a:noFill/>
          </p:spPr>
          <p:txBody>
            <a:bodyPr wrap="square">
              <a:spAutoFit/>
            </a:bodyPr>
            <a:lstStyle/>
            <a:p>
              <a:r>
                <a:rPr lang="en-IN" sz="2400" dirty="0">
                  <a:solidFill>
                    <a:srgbClr val="E6D8AD"/>
                  </a:solidFill>
                  <a:latin typeface="Times New Roman" panose="02020603050405020304" pitchFamily="18" charset="0"/>
                  <a:cs typeface="Times New Roman" panose="02020603050405020304" pitchFamily="18" charset="0"/>
                </a:rPr>
                <a:t>Covers detailed assessment of all major revenue leakage points, including billing errors, pricing inconsistencies, discounts, tax mismatches, and refund irregularities.</a:t>
              </a:r>
              <a:r>
                <a:rPr lang="en-US" sz="2400" dirty="0">
                  <a:solidFill>
                    <a:srgbClr val="E6D8AD"/>
                  </a:solidFill>
                  <a:latin typeface="Times New Roman" panose="02020603050405020304" pitchFamily="18" charset="0"/>
                  <a:cs typeface="Times New Roman" panose="02020603050405020304" pitchFamily="18" charset="0"/>
                </a:rPr>
                <a:t> </a:t>
              </a:r>
              <a:endParaRPr lang="en-IN" sz="2400" dirty="0">
                <a:solidFill>
                  <a:srgbClr val="E6D8AD"/>
                </a:solidFill>
                <a:latin typeface="Times New Roman" panose="02020603050405020304" pitchFamily="18" charset="0"/>
                <a:cs typeface="Times New Roman" panose="02020603050405020304" pitchFamily="18" charset="0"/>
              </a:endParaRPr>
            </a:p>
          </p:txBody>
        </p:sp>
        <p:sp>
          <p:nvSpPr>
            <p:cNvPr id="16" name="Shape 1">
              <a:extLst>
                <a:ext uri="{FF2B5EF4-FFF2-40B4-BE49-F238E27FC236}">
                  <a16:creationId xmlns:a16="http://schemas.microsoft.com/office/drawing/2014/main" id="{41E4754A-8041-0E81-A017-67D9C1EE2C47}"/>
                </a:ext>
              </a:extLst>
            </p:cNvPr>
            <p:cNvSpPr/>
            <p:nvPr/>
          </p:nvSpPr>
          <p:spPr>
            <a:xfrm>
              <a:off x="591015" y="1712605"/>
              <a:ext cx="903248" cy="680442"/>
            </a:xfrm>
            <a:prstGeom prst="roundRect">
              <a:avLst>
                <a:gd name="adj" fmla="val 480029"/>
              </a:avLst>
            </a:prstGeom>
            <a:solidFill>
              <a:srgbClr val="3F4652"/>
            </a:solidFill>
            <a:ln/>
          </p:spPr>
          <p:txBody>
            <a:bodyPr/>
            <a:lstStyle/>
            <a:p>
              <a:endParaRPr lang="en-IN" dirty="0"/>
            </a:p>
          </p:txBody>
        </p:sp>
        <p:pic>
          <p:nvPicPr>
            <p:cNvPr id="18" name="Graphic 17" descr="Magnifying glass with solid fill">
              <a:extLst>
                <a:ext uri="{FF2B5EF4-FFF2-40B4-BE49-F238E27FC236}">
                  <a16:creationId xmlns:a16="http://schemas.microsoft.com/office/drawing/2014/main" id="{196E7080-4A8B-49D3-BB52-B15F634658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079" y="1828800"/>
              <a:ext cx="656003" cy="519424"/>
            </a:xfrm>
            <a:prstGeom prst="rect">
              <a:avLst/>
            </a:prstGeom>
          </p:spPr>
        </p:pic>
      </p:grpSp>
      <p:grpSp>
        <p:nvGrpSpPr>
          <p:cNvPr id="42" name="Group 41">
            <a:extLst>
              <a:ext uri="{FF2B5EF4-FFF2-40B4-BE49-F238E27FC236}">
                <a16:creationId xmlns:a16="http://schemas.microsoft.com/office/drawing/2014/main" id="{070B0666-3BD2-C39E-6B47-815AF55B221F}"/>
              </a:ext>
            </a:extLst>
          </p:cNvPr>
          <p:cNvGrpSpPr/>
          <p:nvPr/>
        </p:nvGrpSpPr>
        <p:grpSpPr>
          <a:xfrm>
            <a:off x="587530" y="4353220"/>
            <a:ext cx="6021658" cy="1200329"/>
            <a:chOff x="587530" y="3774579"/>
            <a:chExt cx="6021658" cy="1200329"/>
          </a:xfrm>
        </p:grpSpPr>
        <p:sp>
          <p:nvSpPr>
            <p:cNvPr id="19" name="Shape 1">
              <a:extLst>
                <a:ext uri="{FF2B5EF4-FFF2-40B4-BE49-F238E27FC236}">
                  <a16:creationId xmlns:a16="http://schemas.microsoft.com/office/drawing/2014/main" id="{5B020CD8-3799-6C42-DE11-D5A1D9366EC7}"/>
                </a:ext>
              </a:extLst>
            </p:cNvPr>
            <p:cNvSpPr/>
            <p:nvPr/>
          </p:nvSpPr>
          <p:spPr>
            <a:xfrm>
              <a:off x="587530" y="3774579"/>
              <a:ext cx="903248" cy="680442"/>
            </a:xfrm>
            <a:prstGeom prst="roundRect">
              <a:avLst>
                <a:gd name="adj" fmla="val 480029"/>
              </a:avLst>
            </a:prstGeom>
            <a:solidFill>
              <a:srgbClr val="3F4652"/>
            </a:solidFill>
            <a:ln/>
          </p:spPr>
          <p:txBody>
            <a:bodyPr/>
            <a:lstStyle/>
            <a:p>
              <a:endParaRPr lang="en-IN" dirty="0"/>
            </a:p>
          </p:txBody>
        </p:sp>
        <p:sp>
          <p:nvSpPr>
            <p:cNvPr id="20" name="TextBox 19">
              <a:extLst>
                <a:ext uri="{FF2B5EF4-FFF2-40B4-BE49-F238E27FC236}">
                  <a16:creationId xmlns:a16="http://schemas.microsoft.com/office/drawing/2014/main" id="{30B9AD30-2753-2BD1-BCB9-30777D8073C9}"/>
                </a:ext>
              </a:extLst>
            </p:cNvPr>
            <p:cNvSpPr txBox="1"/>
            <p:nvPr/>
          </p:nvSpPr>
          <p:spPr>
            <a:xfrm>
              <a:off x="1490778" y="3774579"/>
              <a:ext cx="5118410" cy="1200329"/>
            </a:xfrm>
            <a:prstGeom prst="rect">
              <a:avLst/>
            </a:prstGeom>
            <a:noFill/>
          </p:spPr>
          <p:txBody>
            <a:bodyPr wrap="square" rtlCol="0">
              <a:spAutoFit/>
            </a:bodyPr>
            <a:lstStyle/>
            <a:p>
              <a:r>
                <a:rPr lang="en-US" sz="2400" dirty="0">
                  <a:solidFill>
                    <a:srgbClr val="E6D8AD"/>
                  </a:solidFill>
                  <a:latin typeface="Times New Roman" panose="02020603050405020304" pitchFamily="18" charset="0"/>
                  <a:cs typeface="Times New Roman" panose="02020603050405020304" pitchFamily="18" charset="0"/>
                </a:rPr>
                <a:t>Evaluates leakage trends across regions, product categories, and transaction types to pinpoint high-risk areas. </a:t>
              </a:r>
              <a:endParaRPr lang="en-IN" sz="2400" dirty="0">
                <a:solidFill>
                  <a:srgbClr val="E6D8AD"/>
                </a:solidFill>
              </a:endParaRPr>
            </a:p>
          </p:txBody>
        </p:sp>
        <p:pic>
          <p:nvPicPr>
            <p:cNvPr id="22" name="Graphic 21" descr="Earth globe: Africa and Europe with solid fill">
              <a:extLst>
                <a:ext uri="{FF2B5EF4-FFF2-40B4-BE49-F238E27FC236}">
                  <a16:creationId xmlns:a16="http://schemas.microsoft.com/office/drawing/2014/main" id="{68CB9721-DF9D-466B-37AD-705FFB049EB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2079" y="3824867"/>
              <a:ext cx="594151" cy="574397"/>
            </a:xfrm>
            <a:prstGeom prst="rect">
              <a:avLst/>
            </a:prstGeom>
          </p:spPr>
        </p:pic>
      </p:grpSp>
      <p:grpSp>
        <p:nvGrpSpPr>
          <p:cNvPr id="41" name="Group 40">
            <a:extLst>
              <a:ext uri="{FF2B5EF4-FFF2-40B4-BE49-F238E27FC236}">
                <a16:creationId xmlns:a16="http://schemas.microsoft.com/office/drawing/2014/main" id="{EE679E86-9095-E091-9AD1-DDCC65482113}"/>
              </a:ext>
            </a:extLst>
          </p:cNvPr>
          <p:cNvGrpSpPr/>
          <p:nvPr/>
        </p:nvGrpSpPr>
        <p:grpSpPr>
          <a:xfrm>
            <a:off x="591015" y="6005142"/>
            <a:ext cx="5471763" cy="1625417"/>
            <a:chOff x="591015" y="5411465"/>
            <a:chExt cx="5471763" cy="1625417"/>
          </a:xfrm>
        </p:grpSpPr>
        <p:sp>
          <p:nvSpPr>
            <p:cNvPr id="23" name="TextBox 22">
              <a:extLst>
                <a:ext uri="{FF2B5EF4-FFF2-40B4-BE49-F238E27FC236}">
                  <a16:creationId xmlns:a16="http://schemas.microsoft.com/office/drawing/2014/main" id="{8F96B99E-0769-FC61-1A4C-CCB709DFA96E}"/>
                </a:ext>
              </a:extLst>
            </p:cNvPr>
            <p:cNvSpPr txBox="1"/>
            <p:nvPr/>
          </p:nvSpPr>
          <p:spPr>
            <a:xfrm>
              <a:off x="1490778" y="5467222"/>
              <a:ext cx="4572000" cy="1569660"/>
            </a:xfrm>
            <a:prstGeom prst="rect">
              <a:avLst/>
            </a:prstGeom>
            <a:noFill/>
          </p:spPr>
          <p:txBody>
            <a:bodyPr wrap="square" rtlCol="0">
              <a:spAutoFit/>
            </a:bodyPr>
            <a:lstStyle/>
            <a:p>
              <a:r>
                <a:rPr lang="en-US" sz="2400" dirty="0">
                  <a:solidFill>
                    <a:srgbClr val="E6D8AD"/>
                  </a:solidFill>
                  <a:latin typeface="Times New Roman" panose="02020603050405020304" pitchFamily="18" charset="0"/>
                  <a:cs typeface="Times New Roman" panose="02020603050405020304" pitchFamily="18" charset="0"/>
                </a:rPr>
                <a:t>Measures the financial impact of leakage and recovery, quantifying how much is lost versus how much is regained. </a:t>
              </a:r>
              <a:endParaRPr lang="en-IN" sz="2400" dirty="0">
                <a:solidFill>
                  <a:srgbClr val="E6D8AD"/>
                </a:solidFill>
              </a:endParaRPr>
            </a:p>
          </p:txBody>
        </p:sp>
        <p:sp>
          <p:nvSpPr>
            <p:cNvPr id="24" name="Shape 1">
              <a:extLst>
                <a:ext uri="{FF2B5EF4-FFF2-40B4-BE49-F238E27FC236}">
                  <a16:creationId xmlns:a16="http://schemas.microsoft.com/office/drawing/2014/main" id="{1F9E444F-3D72-B49D-0213-4DF70B4953A3}"/>
                </a:ext>
              </a:extLst>
            </p:cNvPr>
            <p:cNvSpPr/>
            <p:nvPr/>
          </p:nvSpPr>
          <p:spPr>
            <a:xfrm>
              <a:off x="591015" y="5467222"/>
              <a:ext cx="903248" cy="680442"/>
            </a:xfrm>
            <a:prstGeom prst="roundRect">
              <a:avLst>
                <a:gd name="adj" fmla="val 480029"/>
              </a:avLst>
            </a:prstGeom>
            <a:solidFill>
              <a:srgbClr val="3F4652"/>
            </a:solidFill>
            <a:ln/>
          </p:spPr>
          <p:txBody>
            <a:bodyPr/>
            <a:lstStyle/>
            <a:p>
              <a:endParaRPr lang="en-IN" dirty="0"/>
            </a:p>
          </p:txBody>
        </p:sp>
        <p:pic>
          <p:nvPicPr>
            <p:cNvPr id="36" name="Picture 35" descr="A blue rupee graph with arrow&#10;&#10;AI-generated content may be incorrect.">
              <a:extLst>
                <a:ext uri="{FF2B5EF4-FFF2-40B4-BE49-F238E27FC236}">
                  <a16:creationId xmlns:a16="http://schemas.microsoft.com/office/drawing/2014/main" id="{BDC4B49F-7063-0C92-7ED9-3EC81EFD43CF}"/>
                </a:ext>
              </a:extLst>
            </p:cNvPr>
            <p:cNvPicPr>
              <a:picLocks noChangeAspect="1"/>
            </p:cNvPicPr>
            <p:nvPr/>
          </p:nvPicPr>
          <p:blipFill>
            <a:blip r:embed="rId7">
              <a:lum bright="70000" contrast="-70000"/>
              <a:extLst>
                <a:ext uri="{BEBA8EAE-BF5A-486C-A8C5-ECC9F3942E4B}">
                  <a14:imgProps xmlns:a14="http://schemas.microsoft.com/office/drawing/2010/main">
                    <a14:imgLayer r:embed="rId8">
                      <a14:imgEffect>
                        <a14:backgroundRemoval t="10000" b="90000" l="10000" r="90000">
                          <a14:foregroundMark x1="72754" y1="26855" x2="75488" y2="27734"/>
                          <a14:foregroundMark x1="75879" y1="25488" x2="74121" y2="25977"/>
                          <a14:foregroundMark x1="75586" y1="25195" x2="75293" y2="31934"/>
                          <a14:backgroundMark x1="41211" y1="51660" x2="41211" y2="50977"/>
                        </a14:backgroundRemoval>
                      </a14:imgEffect>
                    </a14:imgLayer>
                  </a14:imgProps>
                </a:ext>
              </a:extLst>
            </a:blip>
            <a:stretch>
              <a:fillRect/>
            </a:stretch>
          </p:blipFill>
          <p:spPr>
            <a:xfrm>
              <a:off x="645900" y="5411465"/>
              <a:ext cx="789993" cy="736198"/>
            </a:xfrm>
            <a:prstGeom prst="rect">
              <a:avLst/>
            </a:prstGeom>
          </p:spPr>
        </p:pic>
      </p:grpSp>
      <p:grpSp>
        <p:nvGrpSpPr>
          <p:cNvPr id="48" name="Group 47">
            <a:extLst>
              <a:ext uri="{FF2B5EF4-FFF2-40B4-BE49-F238E27FC236}">
                <a16:creationId xmlns:a16="http://schemas.microsoft.com/office/drawing/2014/main" id="{1A897114-1DAA-5FFD-42C9-1E8C8560F064}"/>
              </a:ext>
            </a:extLst>
          </p:cNvPr>
          <p:cNvGrpSpPr/>
          <p:nvPr/>
        </p:nvGrpSpPr>
        <p:grpSpPr>
          <a:xfrm>
            <a:off x="8233639" y="6087575"/>
            <a:ext cx="5222008" cy="1620786"/>
            <a:chOff x="8214964" y="1662481"/>
            <a:chExt cx="5222008" cy="1620786"/>
          </a:xfrm>
        </p:grpSpPr>
        <p:sp>
          <p:nvSpPr>
            <p:cNvPr id="32" name="Shape 1">
              <a:extLst>
                <a:ext uri="{FF2B5EF4-FFF2-40B4-BE49-F238E27FC236}">
                  <a16:creationId xmlns:a16="http://schemas.microsoft.com/office/drawing/2014/main" id="{006764BA-8D7F-C223-6D33-056F69DC1FFE}"/>
                </a:ext>
              </a:extLst>
            </p:cNvPr>
            <p:cNvSpPr/>
            <p:nvPr/>
          </p:nvSpPr>
          <p:spPr>
            <a:xfrm>
              <a:off x="8214964" y="1713607"/>
              <a:ext cx="903248" cy="680442"/>
            </a:xfrm>
            <a:prstGeom prst="roundRect">
              <a:avLst>
                <a:gd name="adj" fmla="val 480029"/>
              </a:avLst>
            </a:prstGeom>
            <a:solidFill>
              <a:srgbClr val="3F4652"/>
            </a:solidFill>
            <a:ln/>
          </p:spPr>
          <p:txBody>
            <a:bodyPr/>
            <a:lstStyle/>
            <a:p>
              <a:endParaRPr lang="en-IN" dirty="0"/>
            </a:p>
          </p:txBody>
        </p:sp>
        <p:pic>
          <p:nvPicPr>
            <p:cNvPr id="34" name="Picture 33" descr="A blue tick on a shield&#10;&#10;AI-generated content may be incorrect.">
              <a:extLst>
                <a:ext uri="{FF2B5EF4-FFF2-40B4-BE49-F238E27FC236}">
                  <a16:creationId xmlns:a16="http://schemas.microsoft.com/office/drawing/2014/main" id="{37B266AB-6BED-CF3A-C633-FAC1FC7BF0E6}"/>
                </a:ext>
              </a:extLst>
            </p:cNvPr>
            <p:cNvPicPr>
              <a:picLocks noChangeAspect="1"/>
            </p:cNvPicPr>
            <p:nvPr/>
          </p:nvPicPr>
          <p:blipFill>
            <a:blip r:embed="rId9">
              <a:lum bright="70000" contrast="-70000"/>
              <a:extLst>
                <a:ext uri="{BEBA8EAE-BF5A-486C-A8C5-ECC9F3942E4B}">
                  <a14:imgProps xmlns:a14="http://schemas.microsoft.com/office/drawing/2010/main">
                    <a14:imgLayer r:embed="rId10">
                      <a14:imgEffect>
                        <a14:backgroundRemoval t="10000" b="90000" l="10000" r="90000">
                          <a14:foregroundMark x1="39941" y1="50684" x2="45898" y2="58105"/>
                          <a14:foregroundMark x1="45898" y1="58105" x2="60156" y2="44141"/>
                          <a14:foregroundMark x1="60156" y1="44141" x2="60156" y2="44043"/>
                          <a14:backgroundMark x1="40332" y1="26172" x2="33301" y2="33105"/>
                          <a14:backgroundMark x1="33301" y1="33105" x2="31055" y2="42871"/>
                          <a14:backgroundMark x1="31055" y1="42871" x2="38574" y2="61328"/>
                          <a14:backgroundMark x1="38574" y1="61328" x2="44727" y2="64453"/>
                          <a14:backgroundMark x1="44727" y1="64453" x2="56934" y2="59277"/>
                          <a14:backgroundMark x1="56934" y1="59277" x2="65137" y2="48828"/>
                          <a14:backgroundMark x1="48828" y1="34668" x2="57227" y2="26953"/>
                          <a14:backgroundMark x1="57227" y1="26953" x2="66113" y2="25586"/>
                          <a14:backgroundMark x1="66113" y1="25586" x2="52246" y2="31641"/>
                          <a14:backgroundMark x1="52246" y1="31641" x2="49707" y2="31348"/>
                          <a14:backgroundMark x1="74805" y1="36816" x2="62988" y2="59766"/>
                          <a14:backgroundMark x1="62988" y1="59766" x2="52344" y2="69238"/>
                          <a14:backgroundMark x1="52344" y1="69238" x2="44824" y2="69922"/>
                          <a14:backgroundMark x1="44824" y1="69922" x2="40625" y2="67188"/>
                          <a14:backgroundMark x1="53223" y1="74121" x2="59863" y2="69141"/>
                          <a14:backgroundMark x1="41211" y1="18848" x2="20215" y2="24414"/>
                          <a14:backgroundMark x1="20215" y1="24414" x2="20215" y2="24414"/>
                          <a14:backgroundMark x1="20215" y1="24414" x2="20605" y2="39844"/>
                          <a14:backgroundMark x1="54883" y1="16016" x2="74512" y2="21777"/>
                          <a14:backgroundMark x1="78906" y1="24414" x2="79785" y2="35547"/>
                          <a14:backgroundMark x1="56055" y1="82617" x2="62891" y2="79883"/>
                          <a14:backgroundMark x1="62891" y1="79883" x2="74121" y2="67676"/>
                          <a14:backgroundMark x1="74121" y1="67676" x2="76270" y2="60840"/>
                        </a14:backgroundRemoval>
                      </a14:imgEffect>
                    </a14:imgLayer>
                  </a14:imgProps>
                </a:ext>
              </a:extLst>
            </a:blip>
            <a:stretch>
              <a:fillRect/>
            </a:stretch>
          </p:blipFill>
          <p:spPr>
            <a:xfrm>
              <a:off x="8270719" y="1662481"/>
              <a:ext cx="791737" cy="780689"/>
            </a:xfrm>
            <a:prstGeom prst="rect">
              <a:avLst/>
            </a:prstGeom>
            <a:ln>
              <a:noFill/>
            </a:ln>
          </p:spPr>
        </p:pic>
        <p:sp>
          <p:nvSpPr>
            <p:cNvPr id="37" name="TextBox 36">
              <a:extLst>
                <a:ext uri="{FF2B5EF4-FFF2-40B4-BE49-F238E27FC236}">
                  <a16:creationId xmlns:a16="http://schemas.microsoft.com/office/drawing/2014/main" id="{55B448A3-36BF-7CBF-D029-7550875D6163}"/>
                </a:ext>
              </a:extLst>
            </p:cNvPr>
            <p:cNvSpPr txBox="1"/>
            <p:nvPr/>
          </p:nvSpPr>
          <p:spPr>
            <a:xfrm>
              <a:off x="9149851" y="1713607"/>
              <a:ext cx="4287121" cy="1569660"/>
            </a:xfrm>
            <a:prstGeom prst="rect">
              <a:avLst/>
            </a:prstGeom>
            <a:noFill/>
          </p:spPr>
          <p:txBody>
            <a:bodyPr wrap="square" rtlCol="0">
              <a:spAutoFit/>
            </a:bodyPr>
            <a:lstStyle/>
            <a:p>
              <a:r>
                <a:rPr lang="en-US" sz="2400" dirty="0">
                  <a:solidFill>
                    <a:srgbClr val="E6D8AD"/>
                  </a:solidFill>
                  <a:latin typeface="Times New Roman" panose="02020603050405020304" pitchFamily="18" charset="0"/>
                  <a:cs typeface="Times New Roman" panose="02020603050405020304" pitchFamily="18" charset="0"/>
                </a:rPr>
                <a:t>Examines the effectiveness of current control and recovery mechanisms, identifying bottlenecks and process failures. </a:t>
              </a:r>
              <a:endParaRPr lang="en-IN" sz="2400" dirty="0">
                <a:solidFill>
                  <a:srgbClr val="E6D8AD"/>
                </a:solidFill>
              </a:endParaRPr>
            </a:p>
          </p:txBody>
        </p:sp>
      </p:grpSp>
      <p:sp>
        <p:nvSpPr>
          <p:cNvPr id="38" name="TextBox 37">
            <a:extLst>
              <a:ext uri="{FF2B5EF4-FFF2-40B4-BE49-F238E27FC236}">
                <a16:creationId xmlns:a16="http://schemas.microsoft.com/office/drawing/2014/main" id="{CB99484E-6EAB-AA93-9B58-D79855E2AF9D}"/>
              </a:ext>
            </a:extLst>
          </p:cNvPr>
          <p:cNvSpPr txBox="1"/>
          <p:nvPr/>
        </p:nvSpPr>
        <p:spPr>
          <a:xfrm>
            <a:off x="9556595" y="3568390"/>
            <a:ext cx="3583027" cy="1569660"/>
          </a:xfrm>
          <a:prstGeom prst="rect">
            <a:avLst/>
          </a:prstGeom>
          <a:noFill/>
        </p:spPr>
        <p:txBody>
          <a:bodyPr wrap="square" rtlCol="0">
            <a:spAutoFit/>
          </a:bodyPr>
          <a:lstStyle/>
          <a:p>
            <a:endParaRPr lang="en-IN" dirty="0"/>
          </a:p>
        </p:txBody>
      </p:sp>
      <p:grpSp>
        <p:nvGrpSpPr>
          <p:cNvPr id="49" name="Group 48">
            <a:extLst>
              <a:ext uri="{FF2B5EF4-FFF2-40B4-BE49-F238E27FC236}">
                <a16:creationId xmlns:a16="http://schemas.microsoft.com/office/drawing/2014/main" id="{6103B3F4-3D42-BE8F-2CDA-AF0D49F9DA69}"/>
              </a:ext>
            </a:extLst>
          </p:cNvPr>
          <p:cNvGrpSpPr/>
          <p:nvPr/>
        </p:nvGrpSpPr>
        <p:grpSpPr>
          <a:xfrm>
            <a:off x="8233639" y="4353220"/>
            <a:ext cx="5079513" cy="1253187"/>
            <a:chOff x="8214964" y="3721720"/>
            <a:chExt cx="5079513" cy="1253187"/>
          </a:xfrm>
        </p:grpSpPr>
        <p:sp>
          <p:nvSpPr>
            <p:cNvPr id="31" name="Shape 1">
              <a:extLst>
                <a:ext uri="{FF2B5EF4-FFF2-40B4-BE49-F238E27FC236}">
                  <a16:creationId xmlns:a16="http://schemas.microsoft.com/office/drawing/2014/main" id="{FE0B9634-D7B0-F34D-334C-21211D830623}"/>
                </a:ext>
              </a:extLst>
            </p:cNvPr>
            <p:cNvSpPr/>
            <p:nvPr/>
          </p:nvSpPr>
          <p:spPr>
            <a:xfrm>
              <a:off x="8214964" y="3774579"/>
              <a:ext cx="903248" cy="680442"/>
            </a:xfrm>
            <a:prstGeom prst="roundRect">
              <a:avLst>
                <a:gd name="adj" fmla="val 480029"/>
              </a:avLst>
            </a:prstGeom>
            <a:solidFill>
              <a:srgbClr val="3F4652"/>
            </a:solidFill>
            <a:ln/>
          </p:spPr>
          <p:txBody>
            <a:bodyPr/>
            <a:lstStyle/>
            <a:p>
              <a:endParaRPr lang="en-IN" dirty="0"/>
            </a:p>
          </p:txBody>
        </p:sp>
        <p:sp>
          <p:nvSpPr>
            <p:cNvPr id="39" name="TextBox 38">
              <a:extLst>
                <a:ext uri="{FF2B5EF4-FFF2-40B4-BE49-F238E27FC236}">
                  <a16:creationId xmlns:a16="http://schemas.microsoft.com/office/drawing/2014/main" id="{546C8119-155D-A790-ED4C-11D56ED3D573}"/>
                </a:ext>
              </a:extLst>
            </p:cNvPr>
            <p:cNvSpPr txBox="1"/>
            <p:nvPr/>
          </p:nvSpPr>
          <p:spPr>
            <a:xfrm>
              <a:off x="9149851" y="3774578"/>
              <a:ext cx="4144626" cy="1200329"/>
            </a:xfrm>
            <a:prstGeom prst="rect">
              <a:avLst/>
            </a:prstGeom>
            <a:noFill/>
          </p:spPr>
          <p:txBody>
            <a:bodyPr wrap="square" rtlCol="0">
              <a:spAutoFit/>
            </a:bodyPr>
            <a:lstStyle/>
            <a:p>
              <a:r>
                <a:rPr lang="en-US" sz="2400" dirty="0">
                  <a:solidFill>
                    <a:srgbClr val="E6D8AD"/>
                  </a:solidFill>
                  <a:latin typeface="Times New Roman" panose="02020603050405020304" pitchFamily="18" charset="0"/>
                  <a:cs typeface="Times New Roman" panose="02020603050405020304" pitchFamily="18" charset="0"/>
                </a:rPr>
                <a:t>Focuses on internal operational data only, ensuring accurate, </a:t>
              </a:r>
              <a:r>
                <a:rPr lang="en-US" sz="2400" dirty="0" err="1">
                  <a:solidFill>
                    <a:srgbClr val="E6D8AD"/>
                  </a:solidFill>
                  <a:latin typeface="Times New Roman" panose="02020603050405020304" pitchFamily="18" charset="0"/>
                  <a:cs typeface="Times New Roman" panose="02020603050405020304" pitchFamily="18" charset="0"/>
                </a:rPr>
                <a:t>organisation</a:t>
              </a:r>
              <a:r>
                <a:rPr lang="en-US" sz="2400" dirty="0">
                  <a:solidFill>
                    <a:srgbClr val="E6D8AD"/>
                  </a:solidFill>
                  <a:latin typeface="Times New Roman" panose="02020603050405020304" pitchFamily="18" charset="0"/>
                  <a:cs typeface="Times New Roman" panose="02020603050405020304" pitchFamily="18" charset="0"/>
                </a:rPr>
                <a:t>-specific insights. </a:t>
              </a:r>
              <a:endParaRPr lang="en-IN" sz="2400" dirty="0">
                <a:solidFill>
                  <a:srgbClr val="E6D8AD"/>
                </a:solidFill>
              </a:endParaRPr>
            </a:p>
          </p:txBody>
        </p:sp>
        <p:pic>
          <p:nvPicPr>
            <p:cNvPr id="44" name="Picture 43" descr="A blue cylinder with buttons and a padlock&#10;&#10;AI-generated content may be incorrect.">
              <a:extLst>
                <a:ext uri="{FF2B5EF4-FFF2-40B4-BE49-F238E27FC236}">
                  <a16:creationId xmlns:a16="http://schemas.microsoft.com/office/drawing/2014/main" id="{D902736B-4CF2-C344-F4B8-F28E27C701C6}"/>
                </a:ext>
              </a:extLst>
            </p:cNvPr>
            <p:cNvPicPr>
              <a:picLocks noChangeAspect="1"/>
            </p:cNvPicPr>
            <p:nvPr/>
          </p:nvPicPr>
          <p:blipFill>
            <a:blip r:embed="rId11">
              <a:duotone>
                <a:schemeClr val="bg2">
                  <a:shade val="45000"/>
                  <a:satMod val="135000"/>
                </a:schemeClr>
                <a:prstClr val="white"/>
              </a:duotone>
              <a:extLst>
                <a:ext uri="{BEBA8EAE-BF5A-486C-A8C5-ECC9F3942E4B}">
                  <a14:imgProps xmlns:a14="http://schemas.microsoft.com/office/drawing/2010/main">
                    <a14:imgLayer r:embed="rId12">
                      <a14:imgEffect>
                        <a14:backgroundRemoval t="10000" b="90000" l="10000" r="90000">
                          <a14:backgroundMark x1="23828" y1="24512" x2="23145" y2="63379"/>
                        </a14:backgroundRemoval>
                      </a14:imgEffect>
                    </a14:imgLayer>
                  </a14:imgProps>
                </a:ext>
              </a:extLst>
            </a:blip>
            <a:stretch>
              <a:fillRect/>
            </a:stretch>
          </p:blipFill>
          <p:spPr>
            <a:xfrm>
              <a:off x="8233639" y="3721720"/>
              <a:ext cx="884573" cy="780689"/>
            </a:xfrm>
            <a:prstGeom prst="rect">
              <a:avLst/>
            </a:prstGeom>
          </p:spPr>
        </p:pic>
      </p:grpSp>
      <p:grpSp>
        <p:nvGrpSpPr>
          <p:cNvPr id="50" name="Group 49">
            <a:extLst>
              <a:ext uri="{FF2B5EF4-FFF2-40B4-BE49-F238E27FC236}">
                <a16:creationId xmlns:a16="http://schemas.microsoft.com/office/drawing/2014/main" id="{00A3F514-94BF-D020-A2C4-62C2B585583A}"/>
              </a:ext>
            </a:extLst>
          </p:cNvPr>
          <p:cNvGrpSpPr/>
          <p:nvPr/>
        </p:nvGrpSpPr>
        <p:grpSpPr>
          <a:xfrm>
            <a:off x="8233639" y="1985918"/>
            <a:ext cx="5006896" cy="1938992"/>
            <a:chOff x="8233639" y="5411465"/>
            <a:chExt cx="5006896" cy="1938992"/>
          </a:xfrm>
        </p:grpSpPr>
        <p:sp>
          <p:nvSpPr>
            <p:cNvPr id="30" name="Shape 1">
              <a:extLst>
                <a:ext uri="{FF2B5EF4-FFF2-40B4-BE49-F238E27FC236}">
                  <a16:creationId xmlns:a16="http://schemas.microsoft.com/office/drawing/2014/main" id="{0AC6DBB4-D2A0-0136-F97A-5DF8B9C3FB86}"/>
                </a:ext>
              </a:extLst>
            </p:cNvPr>
            <p:cNvSpPr/>
            <p:nvPr/>
          </p:nvSpPr>
          <p:spPr>
            <a:xfrm>
              <a:off x="8233639" y="5475557"/>
              <a:ext cx="903248" cy="680442"/>
            </a:xfrm>
            <a:prstGeom prst="roundRect">
              <a:avLst>
                <a:gd name="adj" fmla="val 480029"/>
              </a:avLst>
            </a:prstGeom>
            <a:solidFill>
              <a:srgbClr val="3F4652"/>
            </a:solidFill>
            <a:ln/>
          </p:spPr>
          <p:txBody>
            <a:bodyPr/>
            <a:lstStyle/>
            <a:p>
              <a:endParaRPr lang="en-IN" dirty="0"/>
            </a:p>
          </p:txBody>
        </p:sp>
        <p:sp>
          <p:nvSpPr>
            <p:cNvPr id="40" name="TextBox 39">
              <a:extLst>
                <a:ext uri="{FF2B5EF4-FFF2-40B4-BE49-F238E27FC236}">
                  <a16:creationId xmlns:a16="http://schemas.microsoft.com/office/drawing/2014/main" id="{30F4077B-A12A-039F-852F-FA53D58AE3A7}"/>
                </a:ext>
              </a:extLst>
            </p:cNvPr>
            <p:cNvSpPr txBox="1"/>
            <p:nvPr/>
          </p:nvSpPr>
          <p:spPr>
            <a:xfrm>
              <a:off x="9203793" y="5411465"/>
              <a:ext cx="4036742" cy="1938992"/>
            </a:xfrm>
            <a:prstGeom prst="rect">
              <a:avLst/>
            </a:prstGeom>
            <a:noFill/>
          </p:spPr>
          <p:txBody>
            <a:bodyPr wrap="square" rtlCol="0">
              <a:spAutoFit/>
            </a:bodyPr>
            <a:lstStyle/>
            <a:p>
              <a:r>
                <a:rPr lang="en-US" sz="2400" dirty="0">
                  <a:solidFill>
                    <a:srgbClr val="E6D8AD"/>
                  </a:solidFill>
                  <a:latin typeface="Times New Roman" panose="02020603050405020304" pitchFamily="18" charset="0"/>
                  <a:cs typeface="Times New Roman" panose="02020603050405020304" pitchFamily="18" charset="0"/>
                </a:rPr>
                <a:t>Provides practical, actionable strategies to reduce leakage and strengthen revenue accuracy, based purely on analytical findings.</a:t>
              </a:r>
              <a:endParaRPr lang="en-IN" sz="2400" dirty="0">
                <a:solidFill>
                  <a:srgbClr val="E6D8AD"/>
                </a:solidFill>
              </a:endParaRPr>
            </a:p>
          </p:txBody>
        </p:sp>
        <p:pic>
          <p:nvPicPr>
            <p:cNvPr id="46" name="Graphic 45" descr="Checklist with solid fill">
              <a:extLst>
                <a:ext uri="{FF2B5EF4-FFF2-40B4-BE49-F238E27FC236}">
                  <a16:creationId xmlns:a16="http://schemas.microsoft.com/office/drawing/2014/main" id="{5EA59385-057D-BAB5-4FFF-7E03A984BFB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313510" y="5546343"/>
              <a:ext cx="724829" cy="482057"/>
            </a:xfrm>
            <a:prstGeom prst="rect">
              <a:avLst/>
            </a:prstGeom>
          </p:spPr>
        </p:pic>
      </p:gr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down)">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down)">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down)">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wipe(down)">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down)">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wipe(down)">
                                      <p:cBhvr>
                                        <p:cTn id="3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BF25A2-B34E-A70D-4906-AF0A3C4D9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9141"/>
            <a:ext cx="14630400" cy="8608741"/>
          </a:xfrm>
          <a:prstGeom prst="rect">
            <a:avLst/>
          </a:prstGeom>
        </p:spPr>
      </p:pic>
      <p:sp>
        <p:nvSpPr>
          <p:cNvPr id="3" name="TextBox 2">
            <a:extLst>
              <a:ext uri="{FF2B5EF4-FFF2-40B4-BE49-F238E27FC236}">
                <a16:creationId xmlns:a16="http://schemas.microsoft.com/office/drawing/2014/main" id="{48A0B197-F221-E620-F0D7-C1AAE6782D3E}"/>
              </a:ext>
            </a:extLst>
          </p:cNvPr>
          <p:cNvSpPr txBox="1"/>
          <p:nvPr/>
        </p:nvSpPr>
        <p:spPr>
          <a:xfrm>
            <a:off x="479456" y="5743720"/>
            <a:ext cx="2351528" cy="1631216"/>
          </a:xfrm>
          <a:prstGeom prst="rect">
            <a:avLst/>
          </a:prstGeom>
          <a:noFill/>
        </p:spPr>
        <p:txBody>
          <a:bodyPr wrap="square" rtlCol="0">
            <a:spAutoFit/>
          </a:bodyPr>
          <a:lstStyle/>
          <a:p>
            <a:r>
              <a:rPr lang="en-US" sz="2000" dirty="0">
                <a:solidFill>
                  <a:srgbClr val="D6E5EF"/>
                </a:solidFill>
                <a:latin typeface="Times New Roman" panose="02020603050405020304" pitchFamily="18" charset="0"/>
                <a:cs typeface="Times New Roman" panose="02020603050405020304" pitchFamily="18" charset="0"/>
              </a:rPr>
              <a:t>To quantify the total revenue leakage and determine how much is recovered versus unrecovered.</a:t>
            </a:r>
            <a:endParaRPr lang="en-IN" sz="2000" dirty="0">
              <a:solidFill>
                <a:srgbClr val="D6E5EF"/>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3B030CB-63D7-D0C9-1BE9-1EDBED988DB3}"/>
              </a:ext>
            </a:extLst>
          </p:cNvPr>
          <p:cNvSpPr txBox="1"/>
          <p:nvPr/>
        </p:nvSpPr>
        <p:spPr>
          <a:xfrm>
            <a:off x="4383891" y="5633785"/>
            <a:ext cx="2672743" cy="1631216"/>
          </a:xfrm>
          <a:prstGeom prst="rect">
            <a:avLst/>
          </a:prstGeom>
          <a:noFill/>
        </p:spPr>
        <p:txBody>
          <a:bodyPr wrap="square" rtlCol="0">
            <a:spAutoFit/>
          </a:bodyPr>
          <a:lstStyle/>
          <a:p>
            <a:r>
              <a:rPr lang="en-US" sz="2000" dirty="0">
                <a:solidFill>
                  <a:srgbClr val="D6E5EF"/>
                </a:solidFill>
                <a:latin typeface="Times New Roman" panose="02020603050405020304" pitchFamily="18" charset="0"/>
                <a:cs typeface="Times New Roman" panose="02020603050405020304" pitchFamily="18" charset="0"/>
              </a:rPr>
              <a:t>To analyze monthly trends in leakage, recovery, and refunds to detect operational inconsistencies.</a:t>
            </a:r>
            <a:endParaRPr lang="en-IN" sz="2000" dirty="0">
              <a:solidFill>
                <a:srgbClr val="D6E5EF"/>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48FD5FC-2128-BF3A-E71D-009CBDEB0434}"/>
              </a:ext>
            </a:extLst>
          </p:cNvPr>
          <p:cNvSpPr txBox="1"/>
          <p:nvPr/>
        </p:nvSpPr>
        <p:spPr>
          <a:xfrm>
            <a:off x="8856477" y="5560734"/>
            <a:ext cx="2587891" cy="1631216"/>
          </a:xfrm>
          <a:prstGeom prst="rect">
            <a:avLst/>
          </a:prstGeom>
          <a:noFill/>
        </p:spPr>
        <p:txBody>
          <a:bodyPr wrap="square" rtlCol="0">
            <a:spAutoFit/>
          </a:bodyPr>
          <a:lstStyle/>
          <a:p>
            <a:r>
              <a:rPr lang="en-US" sz="2000" dirty="0">
                <a:solidFill>
                  <a:srgbClr val="D6E5EF"/>
                </a:solidFill>
                <a:latin typeface="Times New Roman" panose="02020603050405020304" pitchFamily="18" charset="0"/>
                <a:cs typeface="Times New Roman" panose="02020603050405020304" pitchFamily="18" charset="0"/>
              </a:rPr>
              <a:t>To identify major leakage sources across regions, product categories, and error types.</a:t>
            </a:r>
            <a:endParaRPr lang="en-IN" sz="2000" dirty="0">
              <a:solidFill>
                <a:srgbClr val="D6E5EF"/>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7AE9647-41C8-9E59-9054-1DD077678701}"/>
              </a:ext>
            </a:extLst>
          </p:cNvPr>
          <p:cNvSpPr txBox="1"/>
          <p:nvPr/>
        </p:nvSpPr>
        <p:spPr>
          <a:xfrm>
            <a:off x="6719709" y="4112504"/>
            <a:ext cx="2672743" cy="1631216"/>
          </a:xfrm>
          <a:prstGeom prst="rect">
            <a:avLst/>
          </a:prstGeom>
          <a:noFill/>
        </p:spPr>
        <p:txBody>
          <a:bodyPr wrap="square" rtlCol="0">
            <a:spAutoFit/>
          </a:bodyPr>
          <a:lstStyle/>
          <a:p>
            <a:r>
              <a:rPr lang="en-US" sz="2000" dirty="0">
                <a:solidFill>
                  <a:srgbClr val="D6E5EF"/>
                </a:solidFill>
                <a:latin typeface="Times New Roman" panose="02020603050405020304" pitchFamily="18" charset="0"/>
                <a:cs typeface="Times New Roman" panose="02020603050405020304" pitchFamily="18" charset="0"/>
              </a:rPr>
              <a:t>To assess the effectiveness of current recovery processes and identify areas needing improvement.</a:t>
            </a:r>
            <a:endParaRPr lang="en-IN" sz="2000" dirty="0">
              <a:solidFill>
                <a:srgbClr val="D6E5EF"/>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3CC2449-0477-DC6D-8445-453765BDB462}"/>
              </a:ext>
            </a:extLst>
          </p:cNvPr>
          <p:cNvSpPr txBox="1"/>
          <p:nvPr/>
        </p:nvSpPr>
        <p:spPr>
          <a:xfrm>
            <a:off x="2236979" y="4212573"/>
            <a:ext cx="2929823" cy="1323439"/>
          </a:xfrm>
          <a:prstGeom prst="rect">
            <a:avLst/>
          </a:prstGeom>
          <a:noFill/>
        </p:spPr>
        <p:txBody>
          <a:bodyPr wrap="square" rtlCol="0">
            <a:spAutoFit/>
          </a:bodyPr>
          <a:lstStyle/>
          <a:p>
            <a:r>
              <a:rPr lang="en-US" sz="2000" dirty="0">
                <a:solidFill>
                  <a:srgbClr val="D6E5EF"/>
                </a:solidFill>
                <a:latin typeface="Times New Roman" panose="02020603050405020304" pitchFamily="18" charset="0"/>
                <a:cs typeface="Times New Roman" panose="02020603050405020304" pitchFamily="18" charset="0"/>
              </a:rPr>
              <a:t>To recommend strategies to reduce future revenue leakage and improve revenue accuracy.</a:t>
            </a:r>
            <a:endParaRPr lang="en-IN" sz="2000" dirty="0">
              <a:solidFill>
                <a:srgbClr val="D6E5EF"/>
              </a:solidFill>
            </a:endParaRPr>
          </a:p>
        </p:txBody>
      </p:sp>
      <p:sp>
        <p:nvSpPr>
          <p:cNvPr id="8" name="TextBox 7">
            <a:extLst>
              <a:ext uri="{FF2B5EF4-FFF2-40B4-BE49-F238E27FC236}">
                <a16:creationId xmlns:a16="http://schemas.microsoft.com/office/drawing/2014/main" id="{4E5500B6-5DD1-4733-3D8E-891684268611}"/>
              </a:ext>
            </a:extLst>
          </p:cNvPr>
          <p:cNvSpPr txBox="1"/>
          <p:nvPr/>
        </p:nvSpPr>
        <p:spPr>
          <a:xfrm>
            <a:off x="198307" y="593054"/>
            <a:ext cx="4449972" cy="769441"/>
          </a:xfrm>
          <a:prstGeom prst="rect">
            <a:avLst/>
          </a:prstGeom>
          <a:noFill/>
        </p:spPr>
        <p:txBody>
          <a:bodyPr wrap="square">
            <a:spAutoFit/>
          </a:bodyPr>
          <a:lstStyle/>
          <a:p>
            <a:pPr algn="ctr"/>
            <a:r>
              <a:rPr lang="en-IN" sz="4400" b="1" dirty="0">
                <a:ln w="0"/>
                <a:solidFill>
                  <a:srgbClr val="76B9FF"/>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3804075419"/>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FF5BDB8D-68D5-7E1A-73F4-3CF779A3D356}"/>
              </a:ext>
            </a:extLst>
          </p:cNvPr>
          <p:cNvSpPr/>
          <p:nvPr/>
        </p:nvSpPr>
        <p:spPr>
          <a:xfrm>
            <a:off x="11909503" y="7649737"/>
            <a:ext cx="3289610" cy="669073"/>
          </a:xfrm>
          <a:prstGeom prst="ellipse">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76B9FF"/>
                </a:solidFill>
                <a:latin typeface="Roboto Slab" pitchFamily="34" charset="0"/>
                <a:ea typeface="Roboto Slab" pitchFamily="34" charset="-122"/>
                <a:cs typeface="Roboto Slab" pitchFamily="34" charset="-120"/>
              </a:rPr>
              <a:t>Dashboard</a:t>
            </a:r>
            <a:endParaRPr lang="en-US" sz="4450" dirty="0"/>
          </a:p>
        </p:txBody>
      </p:sp>
      <p:pic>
        <p:nvPicPr>
          <p:cNvPr id="4" name="Picture 3" descr="A screenshot of a computer screen&#10;&#10;AI-generated content may be incorrect.">
            <a:extLst>
              <a:ext uri="{FF2B5EF4-FFF2-40B4-BE49-F238E27FC236}">
                <a16:creationId xmlns:a16="http://schemas.microsoft.com/office/drawing/2014/main" id="{9AFA88DC-4ADB-5052-9D54-B7B6AD948A94}"/>
              </a:ext>
            </a:extLst>
          </p:cNvPr>
          <p:cNvPicPr>
            <a:picLocks noChangeAspect="1"/>
          </p:cNvPicPr>
          <p:nvPr/>
        </p:nvPicPr>
        <p:blipFill>
          <a:blip r:embed="rId3"/>
          <a:stretch>
            <a:fillRect/>
          </a:stretch>
        </p:blipFill>
        <p:spPr>
          <a:xfrm>
            <a:off x="0" y="0"/>
            <a:ext cx="14630399" cy="8229599"/>
          </a:xfrm>
          <a:prstGeom prst="rect">
            <a:avLst/>
          </a:prstGeom>
        </p:spPr>
      </p:pic>
    </p:spTree>
  </p:cSld>
  <p:clrMapOvr>
    <a:masterClrMapping/>
  </p:clrMapOvr>
  <p:transition spd="slow">
    <p:push dir="d"/>
  </p:transition>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DDF25CA6-69C1-2DAE-7B32-A429EC6C7202}"/>
              </a:ext>
            </a:extLst>
          </p:cNvPr>
          <p:cNvSpPr/>
          <p:nvPr/>
        </p:nvSpPr>
        <p:spPr>
          <a:xfrm>
            <a:off x="11909503" y="7649737"/>
            <a:ext cx="3289610" cy="669073"/>
          </a:xfrm>
          <a:prstGeom prst="ellipse">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21" name="Table 20">
            <a:extLst>
              <a:ext uri="{FF2B5EF4-FFF2-40B4-BE49-F238E27FC236}">
                <a16:creationId xmlns:a16="http://schemas.microsoft.com/office/drawing/2014/main" id="{00C6FC4E-F2DA-26B6-EC5C-7868F00D1951}"/>
              </a:ext>
            </a:extLst>
          </p:cNvPr>
          <p:cNvGraphicFramePr>
            <a:graphicFrameLocks noGrp="1"/>
          </p:cNvGraphicFramePr>
          <p:nvPr>
            <p:extLst>
              <p:ext uri="{D42A27DB-BD31-4B8C-83A1-F6EECF244321}">
                <p14:modId xmlns:p14="http://schemas.microsoft.com/office/powerpoint/2010/main" val="1614613087"/>
              </p:ext>
            </p:extLst>
          </p:nvPr>
        </p:nvGraphicFramePr>
        <p:xfrm>
          <a:off x="657921" y="393161"/>
          <a:ext cx="13392615" cy="7449013"/>
        </p:xfrm>
        <a:graphic>
          <a:graphicData uri="http://schemas.openxmlformats.org/drawingml/2006/table">
            <a:tbl>
              <a:tblPr firstRow="1" firstCol="1" bandRow="1">
                <a:tableStyleId>{5C22544A-7EE6-4342-B048-85BDC9FD1C3A}</a:tableStyleId>
              </a:tblPr>
              <a:tblGrid>
                <a:gridCol w="4698756">
                  <a:extLst>
                    <a:ext uri="{9D8B030D-6E8A-4147-A177-3AD203B41FA5}">
                      <a16:colId xmlns:a16="http://schemas.microsoft.com/office/drawing/2014/main" val="663350399"/>
                    </a:ext>
                  </a:extLst>
                </a:gridCol>
                <a:gridCol w="8693859">
                  <a:extLst>
                    <a:ext uri="{9D8B030D-6E8A-4147-A177-3AD203B41FA5}">
                      <a16:colId xmlns:a16="http://schemas.microsoft.com/office/drawing/2014/main" val="2589095920"/>
                    </a:ext>
                  </a:extLst>
                </a:gridCol>
              </a:tblGrid>
              <a:tr h="7449013">
                <a:tc>
                  <a:txBody>
                    <a:bodyPr/>
                    <a:lstStyle/>
                    <a:p>
                      <a:endParaRPr lang="en-IN" dirty="0"/>
                    </a:p>
                  </a:txBody>
                  <a:tcPr>
                    <a:noFill/>
                  </a:tcPr>
                </a:tc>
                <a:tc>
                  <a:txBody>
                    <a:bodyPr/>
                    <a:lstStyle/>
                    <a:p>
                      <a:endParaRPr lang="en-IN" dirty="0"/>
                    </a:p>
                  </a:txBody>
                  <a:tcPr>
                    <a:noFill/>
                  </a:tcPr>
                </a:tc>
                <a:extLst>
                  <a:ext uri="{0D108BD9-81ED-4DB2-BD59-A6C34878D82A}">
                    <a16:rowId xmlns:a16="http://schemas.microsoft.com/office/drawing/2014/main" val="1573339109"/>
                  </a:ext>
                </a:extLst>
              </a:tr>
            </a:tbl>
          </a:graphicData>
        </a:graphic>
      </p:graphicFrame>
      <p:graphicFrame>
        <p:nvGraphicFramePr>
          <p:cNvPr id="22" name="Table 21">
            <a:extLst>
              <a:ext uri="{FF2B5EF4-FFF2-40B4-BE49-F238E27FC236}">
                <a16:creationId xmlns:a16="http://schemas.microsoft.com/office/drawing/2014/main" id="{A248A094-2AF8-F3BE-868C-96F9FE1A41E2}"/>
              </a:ext>
            </a:extLst>
          </p:cNvPr>
          <p:cNvGraphicFramePr>
            <a:graphicFrameLocks noGrp="1"/>
          </p:cNvGraphicFramePr>
          <p:nvPr>
            <p:extLst>
              <p:ext uri="{D42A27DB-BD31-4B8C-83A1-F6EECF244321}">
                <p14:modId xmlns:p14="http://schemas.microsoft.com/office/powerpoint/2010/main" val="1621749547"/>
              </p:ext>
            </p:extLst>
          </p:nvPr>
        </p:nvGraphicFramePr>
        <p:xfrm>
          <a:off x="657922" y="393161"/>
          <a:ext cx="13392614" cy="758282"/>
        </p:xfrm>
        <a:graphic>
          <a:graphicData uri="http://schemas.openxmlformats.org/drawingml/2006/table">
            <a:tbl>
              <a:tblPr firstRow="1" bandRow="1">
                <a:tableStyleId>{5C22544A-7EE6-4342-B048-85BDC9FD1C3A}</a:tableStyleId>
              </a:tblPr>
              <a:tblGrid>
                <a:gridCol w="13392614">
                  <a:extLst>
                    <a:ext uri="{9D8B030D-6E8A-4147-A177-3AD203B41FA5}">
                      <a16:colId xmlns:a16="http://schemas.microsoft.com/office/drawing/2014/main" val="897094060"/>
                    </a:ext>
                  </a:extLst>
                </a:gridCol>
              </a:tblGrid>
              <a:tr h="758282">
                <a:tc>
                  <a:txBody>
                    <a:bodyPr/>
                    <a:lstStyle/>
                    <a:p>
                      <a:endParaRPr lang="en-IN" dirty="0"/>
                    </a:p>
                  </a:txBody>
                  <a:tcPr>
                    <a:noFill/>
                  </a:tcPr>
                </a:tc>
                <a:extLst>
                  <a:ext uri="{0D108BD9-81ED-4DB2-BD59-A6C34878D82A}">
                    <a16:rowId xmlns:a16="http://schemas.microsoft.com/office/drawing/2014/main" val="333851478"/>
                  </a:ext>
                </a:extLst>
              </a:tr>
            </a:tbl>
          </a:graphicData>
        </a:graphic>
      </p:graphicFrame>
      <p:sp>
        <p:nvSpPr>
          <p:cNvPr id="23" name="TextBox 22">
            <a:extLst>
              <a:ext uri="{FF2B5EF4-FFF2-40B4-BE49-F238E27FC236}">
                <a16:creationId xmlns:a16="http://schemas.microsoft.com/office/drawing/2014/main" id="{1A2C0B7E-091D-1A60-846B-694862D25364}"/>
              </a:ext>
            </a:extLst>
          </p:cNvPr>
          <p:cNvSpPr txBox="1"/>
          <p:nvPr/>
        </p:nvSpPr>
        <p:spPr>
          <a:xfrm>
            <a:off x="1555595" y="444001"/>
            <a:ext cx="2408664" cy="646331"/>
          </a:xfrm>
          <a:prstGeom prst="rect">
            <a:avLst/>
          </a:prstGeom>
          <a:noFill/>
        </p:spPr>
        <p:txBody>
          <a:bodyPr wrap="square" rtlCol="0">
            <a:spAutoFit/>
          </a:bodyPr>
          <a:lstStyle/>
          <a:p>
            <a:r>
              <a:rPr lang="en-IN" sz="3600" dirty="0">
                <a:solidFill>
                  <a:srgbClr val="E6D8AD"/>
                </a:solidFill>
                <a:latin typeface="Times New Roman" panose="02020603050405020304" pitchFamily="18" charset="0"/>
                <a:cs typeface="Times New Roman" panose="02020603050405020304" pitchFamily="18" charset="0"/>
              </a:rPr>
              <a:t>FINDINGS </a:t>
            </a:r>
          </a:p>
        </p:txBody>
      </p:sp>
      <p:sp>
        <p:nvSpPr>
          <p:cNvPr id="24" name="TextBox 23">
            <a:extLst>
              <a:ext uri="{FF2B5EF4-FFF2-40B4-BE49-F238E27FC236}">
                <a16:creationId xmlns:a16="http://schemas.microsoft.com/office/drawing/2014/main" id="{3FA37FCE-B3D9-987D-6CC3-CED4B1F12B6A}"/>
              </a:ext>
            </a:extLst>
          </p:cNvPr>
          <p:cNvSpPr txBox="1"/>
          <p:nvPr/>
        </p:nvSpPr>
        <p:spPr>
          <a:xfrm>
            <a:off x="5832088" y="444000"/>
            <a:ext cx="7828156" cy="646331"/>
          </a:xfrm>
          <a:prstGeom prst="rect">
            <a:avLst/>
          </a:prstGeom>
          <a:noFill/>
        </p:spPr>
        <p:txBody>
          <a:bodyPr wrap="square" rtlCol="0">
            <a:spAutoFit/>
          </a:bodyPr>
          <a:lstStyle/>
          <a:p>
            <a:pPr algn="ctr"/>
            <a:r>
              <a:rPr lang="en-IN" sz="3600" dirty="0">
                <a:solidFill>
                  <a:srgbClr val="E6D8AD"/>
                </a:solidFill>
                <a:latin typeface="Times New Roman" panose="02020603050405020304" pitchFamily="18" charset="0"/>
                <a:cs typeface="Times New Roman" panose="02020603050405020304" pitchFamily="18" charset="0"/>
              </a:rPr>
              <a:t>STRATEGIC  RECOMMENDATIONS</a:t>
            </a:r>
            <a:endParaRPr lang="en-IN" sz="3600" dirty="0"/>
          </a:p>
        </p:txBody>
      </p:sp>
      <p:sp>
        <p:nvSpPr>
          <p:cNvPr id="26" name="TextBox 25">
            <a:extLst>
              <a:ext uri="{FF2B5EF4-FFF2-40B4-BE49-F238E27FC236}">
                <a16:creationId xmlns:a16="http://schemas.microsoft.com/office/drawing/2014/main" id="{F5A14778-8198-0452-1332-329C57343CDA}"/>
              </a:ext>
            </a:extLst>
          </p:cNvPr>
          <p:cNvSpPr txBox="1"/>
          <p:nvPr/>
        </p:nvSpPr>
        <p:spPr>
          <a:xfrm>
            <a:off x="814038" y="1328271"/>
            <a:ext cx="4159405" cy="6555641"/>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Leakage is concentrated in specific regions and product categories.</a:t>
            </a: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Billing errors, discount issues, and refund mismatches are the primary leakage sources.</a:t>
            </a: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A considerable share of identified leakage remains unrecovered.</a:t>
            </a: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Monthly leakage patterns show irregular spikes.</a:t>
            </a: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Refund-related leakage is higher than acceptable.</a:t>
            </a: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Recovery efficiency differs across regions and categories.</a:t>
            </a: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Internal control mechanisms are inconsistent across operations.</a:t>
            </a:r>
            <a:endParaRPr lang="en-IN" sz="2000" dirty="0">
              <a:solidFill>
                <a:srgbClr val="D6E5EF"/>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21AADD63-C801-1D55-CE04-446F92BFE8AA}"/>
              </a:ext>
            </a:extLst>
          </p:cNvPr>
          <p:cNvSpPr txBox="1"/>
          <p:nvPr/>
        </p:nvSpPr>
        <p:spPr>
          <a:xfrm>
            <a:off x="5497551" y="1328271"/>
            <a:ext cx="8474928" cy="6555641"/>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Apply targeted controls, audits, and monitoring in high-leakage regions and categories.</a:t>
            </a: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Automate billing checks, enforce fixed discount rules, and tighten refund approval processes.</a:t>
            </a:r>
          </a:p>
          <a:p>
            <a:endParaRPr lang="en-US" sz="2000" dirty="0">
              <a:solidFill>
                <a:srgbClr val="D6E5EF"/>
              </a:solidFill>
              <a:latin typeface="Times New Roman" panose="02020603050405020304" pitchFamily="18" charset="0"/>
              <a:cs typeface="Times New Roman" panose="02020603050405020304" pitchFamily="18" charset="0"/>
            </a:endParaRP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Implement a structured follow-up system to track, close, and verify all unrecovered cases.</a:t>
            </a:r>
          </a:p>
          <a:p>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Set automated alerts for abnormal monthly variations and review operational deviations promptly.</a:t>
            </a:r>
          </a:p>
          <a:p>
            <a:endParaRPr lang="en-IN"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Introduce mandatory justification and multi-level verification for all high-value or frequent refunds.</a:t>
            </a:r>
          </a:p>
          <a:p>
            <a:pPr marL="285750" indent="-285750">
              <a:buFont typeface="Arial" panose="020B0604020202020204" pitchFamily="34" charset="0"/>
              <a:buChar char="•"/>
            </a:pPr>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Provide focused training and improve process controls in low-performing areas.</a:t>
            </a:r>
          </a:p>
          <a:p>
            <a:pPr marL="285750" indent="-285750">
              <a:buFont typeface="Arial" panose="020B0604020202020204" pitchFamily="34" charset="0"/>
              <a:buChar char="•"/>
            </a:pPr>
            <a:endParaRPr lang="en-US" sz="2000" dirty="0">
              <a:solidFill>
                <a:srgbClr val="D6E5EF"/>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D6E5EF"/>
                </a:solidFill>
                <a:latin typeface="Times New Roman" panose="02020603050405020304" pitchFamily="18" charset="0"/>
                <a:cs typeface="Times New Roman" panose="02020603050405020304" pitchFamily="18" charset="0"/>
              </a:rPr>
              <a:t>Strengthen system reconciliation and conduct periodic revenue assurance reviews to improve accuracy.</a:t>
            </a:r>
          </a:p>
        </p:txBody>
      </p:sp>
    </p:spTree>
  </p:cSld>
  <p:clrMapOvr>
    <a:masterClrMapping/>
  </p:clrMapOvr>
  <p:transition spd="slow">
    <p:push dir="r"/>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78A7CB">
            <a:alpha val="0"/>
          </a:srgbClr>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8015B360-D562-109F-F226-FA4D9F838152}"/>
              </a:ext>
            </a:extLst>
          </p:cNvPr>
          <p:cNvSpPr/>
          <p:nvPr/>
        </p:nvSpPr>
        <p:spPr>
          <a:xfrm>
            <a:off x="11909503" y="7649737"/>
            <a:ext cx="3289610" cy="669073"/>
          </a:xfrm>
          <a:prstGeom prst="ellipse">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CEFA41EA-F695-0FF1-E522-70F00100E1AD}"/>
              </a:ext>
            </a:extLst>
          </p:cNvPr>
          <p:cNvSpPr/>
          <p:nvPr/>
        </p:nvSpPr>
        <p:spPr>
          <a:xfrm>
            <a:off x="-182880" y="-213360"/>
            <a:ext cx="14813280" cy="8442958"/>
          </a:xfrm>
          <a:prstGeom prst="rect">
            <a:avLst/>
          </a:prstGeom>
          <a:solidFill>
            <a:srgbClr val="78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0"/>
          <p:cNvSpPr/>
          <p:nvPr/>
        </p:nvSpPr>
        <p:spPr>
          <a:xfrm>
            <a:off x="6280190" y="3045976"/>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pic>
        <p:nvPicPr>
          <p:cNvPr id="7" name="Picture 6" descr="A light bulb with a person's head&#10;&#10;AI-generated content may be incorrect.">
            <a:extLst>
              <a:ext uri="{FF2B5EF4-FFF2-40B4-BE49-F238E27FC236}">
                <a16:creationId xmlns:a16="http://schemas.microsoft.com/office/drawing/2014/main" id="{4495FA1C-6D52-7CAC-E18C-9E418184B14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1429" l="9918" r="89946">
                        <a14:foregroundMark x1="27310" y1="47143" x2="27310" y2="47143"/>
                        <a14:foregroundMark x1="28397" y1="34082" x2="28397" y2="34082"/>
                        <a14:foregroundMark x1="33152" y1="21224" x2="33152" y2="21224"/>
                        <a14:foregroundMark x1="40761" y1="13469" x2="40761" y2="13469"/>
                        <a14:foregroundMark x1="49185" y1="11429" x2="49185" y2="11429"/>
                        <a14:foregroundMark x1="59783" y1="14286" x2="59783" y2="14286"/>
                        <a14:foregroundMark x1="66984" y1="22245" x2="66984" y2="22245"/>
                        <a14:foregroundMark x1="71739" y1="34286" x2="71739" y2="34286"/>
                        <a14:foregroundMark x1="73370" y1="46735" x2="73370" y2="46735"/>
                        <a14:foregroundMark x1="47826" y1="91429" x2="47826" y2="91429"/>
                      </a14:backgroundRemoval>
                    </a14:imgEffect>
                  </a14:imgLayer>
                </a14:imgProps>
              </a:ext>
            </a:extLst>
          </a:blip>
          <a:stretch>
            <a:fillRect/>
          </a:stretch>
        </p:blipFill>
        <p:spPr>
          <a:xfrm>
            <a:off x="-1908062" y="-1"/>
            <a:ext cx="9913434" cy="8229599"/>
          </a:xfrm>
          <a:prstGeom prst="rect">
            <a:avLst/>
          </a:prstGeom>
        </p:spPr>
      </p:pic>
      <p:sp>
        <p:nvSpPr>
          <p:cNvPr id="9" name="TextBox 8">
            <a:extLst>
              <a:ext uri="{FF2B5EF4-FFF2-40B4-BE49-F238E27FC236}">
                <a16:creationId xmlns:a16="http://schemas.microsoft.com/office/drawing/2014/main" id="{C3080804-B9E4-FB0D-1902-90E597907AA0}"/>
              </a:ext>
            </a:extLst>
          </p:cNvPr>
          <p:cNvSpPr txBox="1"/>
          <p:nvPr/>
        </p:nvSpPr>
        <p:spPr>
          <a:xfrm>
            <a:off x="7208520" y="958040"/>
            <a:ext cx="5958840" cy="1015663"/>
          </a:xfrm>
          <a:prstGeom prst="rect">
            <a:avLst/>
          </a:prstGeom>
          <a:noFill/>
        </p:spPr>
        <p:txBody>
          <a:bodyPr wrap="square" rtlCol="0">
            <a:spAutoFit/>
          </a:bodyPr>
          <a:lstStyle/>
          <a:p>
            <a:r>
              <a:rPr lang="en-IN" sz="6000" b="1" dirty="0">
                <a:solidFill>
                  <a:srgbClr val="344258"/>
                </a:solidFill>
                <a:latin typeface="Times New Roman" panose="02020603050405020304" pitchFamily="18" charset="0"/>
                <a:cs typeface="Times New Roman" panose="02020603050405020304" pitchFamily="18" charset="0"/>
              </a:rPr>
              <a:t>CONCLUSION</a:t>
            </a:r>
          </a:p>
        </p:txBody>
      </p:sp>
      <p:sp>
        <p:nvSpPr>
          <p:cNvPr id="2" name="TextBox 1">
            <a:extLst>
              <a:ext uri="{FF2B5EF4-FFF2-40B4-BE49-F238E27FC236}">
                <a16:creationId xmlns:a16="http://schemas.microsoft.com/office/drawing/2014/main" id="{058C9CAC-06F7-63EA-E383-70C30FA54F6F}"/>
              </a:ext>
            </a:extLst>
          </p:cNvPr>
          <p:cNvSpPr txBox="1"/>
          <p:nvPr/>
        </p:nvSpPr>
        <p:spPr>
          <a:xfrm>
            <a:off x="6998656" y="2735201"/>
            <a:ext cx="5958840" cy="3785652"/>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The study clearly identifies the key points where revenue leakage occurs and the factors driving these losses. By highlighting low-performing segments, pricing inconsistencies, and process inefficiencies, the analysis provides a focused understanding of how and where revenue is slipping. These insights form a solid base for corrective actions that can reduce leakage, strengthen operational control, and improve overall revenue performance.</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2C2C14C0-60E1-39F5-E6EF-71778DCA0582}"/>
              </a:ext>
            </a:extLst>
          </p:cNvPr>
          <p:cNvSpPr/>
          <p:nvPr/>
        </p:nvSpPr>
        <p:spPr>
          <a:xfrm>
            <a:off x="11909503" y="7649737"/>
            <a:ext cx="3289610" cy="669073"/>
          </a:xfrm>
          <a:prstGeom prst="ellipse">
            <a:avLst/>
          </a:prstGeom>
          <a:solidFill>
            <a:srgbClr val="2027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 name="Picture 13" descr="A blue sign with white text&#10;&#10;AI-generated content may be incorrect.">
            <a:extLst>
              <a:ext uri="{FF2B5EF4-FFF2-40B4-BE49-F238E27FC236}">
                <a16:creationId xmlns:a16="http://schemas.microsoft.com/office/drawing/2014/main" id="{48CE2EAC-9FEE-43A8-3B68-C3872145CE20}"/>
              </a:ext>
            </a:extLst>
          </p:cNvPr>
          <p:cNvPicPr>
            <a:picLocks noChangeAspect="1"/>
          </p:cNvPicPr>
          <p:nvPr/>
        </p:nvPicPr>
        <p:blipFill>
          <a:blip r:embed="rId3">
            <a:duotone>
              <a:prstClr val="black"/>
              <a:schemeClr val="accent5">
                <a:tint val="45000"/>
                <a:satMod val="400000"/>
              </a:schemeClr>
            </a:duotone>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11151" y="-1626901"/>
            <a:ext cx="14630400" cy="7447837"/>
          </a:xfrm>
          <a:prstGeom prst="rect">
            <a:avLst/>
          </a:prstGeom>
        </p:spPr>
      </p:pic>
      <p:sp>
        <p:nvSpPr>
          <p:cNvPr id="15" name="Text 0">
            <a:extLst>
              <a:ext uri="{FF2B5EF4-FFF2-40B4-BE49-F238E27FC236}">
                <a16:creationId xmlns:a16="http://schemas.microsoft.com/office/drawing/2014/main" id="{9D686DF9-736F-F242-F166-5B525EAE1333}"/>
              </a:ext>
            </a:extLst>
          </p:cNvPr>
          <p:cNvSpPr/>
          <p:nvPr/>
        </p:nvSpPr>
        <p:spPr>
          <a:xfrm>
            <a:off x="10079917" y="6209557"/>
            <a:ext cx="3659171" cy="1440180"/>
          </a:xfrm>
          <a:prstGeom prst="rect">
            <a:avLst/>
          </a:prstGeom>
          <a:noFill/>
          <a:ln/>
        </p:spPr>
        <p:txBody>
          <a:bodyPr wrap="none" lIns="0" tIns="0" rIns="0" bIns="0" rtlCol="0" anchor="t"/>
          <a:lstStyle/>
          <a:p>
            <a:pPr marL="0" indent="0" algn="l">
              <a:lnSpc>
                <a:spcPts val="5550"/>
              </a:lnSpc>
              <a:buNone/>
            </a:pPr>
            <a:endParaRPr lang="en-US" sz="6600" dirty="0">
              <a:latin typeface="Times New Roman" panose="02020603050405020304" pitchFamily="18" charset="0"/>
              <a:cs typeface="Times New Roman" panose="02020603050405020304" pitchFamily="18" charset="0"/>
            </a:endParaRPr>
          </a:p>
        </p:txBody>
      </p:sp>
      <p:sp>
        <p:nvSpPr>
          <p:cNvPr id="16" name="Text 1">
            <a:extLst>
              <a:ext uri="{FF2B5EF4-FFF2-40B4-BE49-F238E27FC236}">
                <a16:creationId xmlns:a16="http://schemas.microsoft.com/office/drawing/2014/main" id="{1EFB9D32-1772-CDFA-5745-6FE04218E23B}"/>
              </a:ext>
            </a:extLst>
          </p:cNvPr>
          <p:cNvSpPr/>
          <p:nvPr/>
        </p:nvSpPr>
        <p:spPr>
          <a:xfrm>
            <a:off x="11664178" y="6219036"/>
            <a:ext cx="2606546" cy="894621"/>
          </a:xfrm>
          <a:prstGeom prst="rect">
            <a:avLst/>
          </a:prstGeom>
          <a:noFill/>
          <a:ln/>
        </p:spPr>
        <p:txBody>
          <a:bodyPr wrap="none" lIns="0" tIns="0" rIns="0" bIns="0" rtlCol="0" anchor="t"/>
          <a:lstStyle/>
          <a:p>
            <a:pPr marL="0" indent="0" algn="ctr">
              <a:lnSpc>
                <a:spcPts val="3300"/>
              </a:lnSpc>
              <a:buNone/>
            </a:pPr>
            <a:r>
              <a:rPr lang="en-US" sz="4000" dirty="0">
                <a:solidFill>
                  <a:srgbClr val="76B9FF"/>
                </a:solidFill>
                <a:latin typeface="Times New Roman" panose="02020603050405020304" pitchFamily="18" charset="0"/>
                <a:ea typeface="Roboto Slab" pitchFamily="34" charset="-122"/>
                <a:cs typeface="Times New Roman" panose="02020603050405020304" pitchFamily="18" charset="0"/>
              </a:rPr>
              <a:t>Presented by </a:t>
            </a:r>
          </a:p>
          <a:p>
            <a:pPr marL="0" indent="0" algn="ctr">
              <a:lnSpc>
                <a:spcPts val="3300"/>
              </a:lnSpc>
              <a:buNone/>
            </a:pPr>
            <a:r>
              <a:rPr lang="en-US" sz="4000" dirty="0">
                <a:solidFill>
                  <a:srgbClr val="76B9FF"/>
                </a:solidFill>
                <a:latin typeface="Times New Roman" panose="02020603050405020304" pitchFamily="18" charset="0"/>
                <a:ea typeface="Roboto Slab" pitchFamily="34" charset="-122"/>
                <a:cs typeface="Times New Roman" panose="02020603050405020304" pitchFamily="18" charset="0"/>
              </a:rPr>
              <a:t>Hiba</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595</Words>
  <Application>Microsoft Office PowerPoint</Application>
  <PresentationFormat>Custom</PresentationFormat>
  <Paragraphs>62</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Roboto Slab</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Hiba Rashid</dc:creator>
  <cp:lastModifiedBy>918714140664</cp:lastModifiedBy>
  <cp:revision>4</cp:revision>
  <dcterms:created xsi:type="dcterms:W3CDTF">2025-12-10T07:42:32Z</dcterms:created>
  <dcterms:modified xsi:type="dcterms:W3CDTF">2026-01-13T16:20:31Z</dcterms:modified>
</cp:coreProperties>
</file>